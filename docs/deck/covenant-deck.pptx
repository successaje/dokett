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CTC to verify</c:v>
                </c:pt>
              </c:strCache>
            </c:strRef>
          </c:tx>
          <c:spPr>
            <a:solidFill>
              <a:srgbClr val="1C6B4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 min</c:v>
                  </c:pt>
                  <c:pt idx="1">
                    <c:v>35 min</c:v>
                  </c:pt>
                  <c:pt idx="2">
                    <c:v>24 hr</c:v>
                  </c:pt>
                  <c:pt idx="3">
                    <c:v>1 yr</c:v>
                  </c:pt>
                  <c:pt idx="4">
                    <c:v>2 yr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0.000190337</c:v>
                </c:pt>
                <c:pt idx="1">
                  <c:v>0.000187873</c:v>
                </c:pt>
                <c:pt idx="2">
                  <c:v>0.000194593</c:v>
                </c:pt>
                <c:pt idx="3">
                  <c:v>0.000239393</c:v>
                </c:pt>
                <c:pt idx="4">
                  <c:v>0.000239393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78746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DDD5"/>
              </a:solidFill>
              <a:prstDash val="solid"/>
              <a:round/>
            </a:ln>
          </c:spPr>
        </c:majorGridlines>
        <c:numFmt formatCode="0.0000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8746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AF9F6"/>
        </a:solidFill>
        <a:ln>
          <a:noFill/>
        </a:ln>
        <a:effectLst/>
      </c:spPr>
    </c:plotArea>
    <c:plotVisOnly val="1"/>
    <c:dispBlanksAs val="span"/>
  </c:chart>
  <c:spPr>
    <a:solidFill>
      <a:srgbClr val="FAF9F6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28600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spc="100" kern="0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COVENANT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640080" y="34290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obligation layer for the open economy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4160520"/>
            <a:ext cx="4754880" cy="0"/>
          </a:xfrm>
          <a:prstGeom prst="line">
            <a:avLst/>
          </a:prstGeom>
          <a:noFill/>
          <a:ln w="12700">
            <a:solidFill>
              <a:srgbClr val="3D3F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43434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registry where a promise to pay is a first-class on-chain object, and its state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advances only on cryptographically verified evidence — never on anyone’s word.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60807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00" kern="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BUIDL CTC 2026 Fall  ·  RWA track  ·  Built on Attestcoin Smart Contracts (ASC)  ·  Creditcoin CC3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promise to pay in crypto is invisible — until it breaks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$14B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3454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tokenized private credit on-chain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4368698" y="228600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$20B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368698" y="3337560"/>
            <a:ext cx="3454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real-world assets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8097317" y="2286000"/>
            <a:ext cx="34542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9629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8097317" y="3337560"/>
            <a:ext cx="345429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bureaus, lien registries, or bankruptcy courts underneath either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66344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4892040"/>
            <a:ext cx="999713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borrower can hold obligations at five protocols across four chains, and none of them can see the others. Every major credit blowup of the last cycle was the same failure — not fraud nobody could punish, but leverage nobody could see.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12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attempt was fixed with a better model. None with better evidence.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0574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credit scores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3682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Spectral, Cred, ARCx, RociFi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205740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with no recourse and no sybil cost. Nobody lends against an opinion.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Aave credit delegation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66160" y="301752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delegator got no upside and no enforcement. Delegation without payment is charity.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79476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7764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Goldfinch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566160" y="397764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underwriting failure — an observability failure. Borrowers reported performance in PDFs.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5488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937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Maple v1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66160" y="4937760"/>
            <a:ext cx="7985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delegates with no cross-venue visibility → correlated blowups.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input landed on Creditcoin in June 2026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454298" cy="2468880"/>
          </a:xfrm>
          <a:prstGeom prst="roundRect">
            <a:avLst>
              <a:gd name="adj" fmla="val 2222"/>
            </a:avLst>
          </a:prstGeom>
          <a:solidFill>
            <a:srgbClr val="1E202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96112" y="2514600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Repayments moved on-chain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337560"/>
            <a:ext cx="29422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Stablecoin settlement means a repayment is now an event, not a report.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68698" y="2286000"/>
            <a:ext cx="3454298" cy="2468880"/>
          </a:xfrm>
          <a:prstGeom prst="roundRect">
            <a:avLst>
              <a:gd name="adj" fmla="val 2222"/>
            </a:avLst>
          </a:prstGeom>
          <a:solidFill>
            <a:srgbClr val="1E202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24730" y="2514600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ASC shipped to mainnet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24730" y="3337560"/>
            <a:ext cx="29422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Creditcoin contract can cryptographically verify a real Ethereum event in one block.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97317" y="2286000"/>
            <a:ext cx="3454298" cy="2468880"/>
          </a:xfrm>
          <a:prstGeom prst="roundRect">
            <a:avLst>
              <a:gd name="adj" fmla="val 2222"/>
            </a:avLst>
          </a:prstGeom>
          <a:solidFill>
            <a:srgbClr val="1E202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53349" y="2514600"/>
            <a:ext cx="294223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~$0.000024 per verification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53349" y="3337560"/>
            <a:ext cx="2942234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a foreign-chain fact costs a fraction of a cent — cheap enough to do continuously.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0080" y="5120640"/>
            <a:ext cx="95399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first time, the performance of a loan is something a contract can check — rather than something a human tells you.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12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PRIMITIVE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Obligation — a promise to pay, on-chain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11535" cy="1234440"/>
          </a:xfrm>
          <a:prstGeom prst="roundRect">
            <a:avLst>
              <a:gd name="adj" fmla="val 3704"/>
            </a:avLst>
          </a:prstGeom>
          <a:solidFill>
            <a:srgbClr val="F3F1EC"/>
          </a:solidFill>
          <a:ln w="12700">
            <a:solidFill>
              <a:srgbClr val="E0DD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103628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618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obligor (commitment, never PII)  ·  principal  ·  schedule  ·  seniority  ·  collateral ref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697480"/>
            <a:ext cx="10362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6B4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status: Active → Current → Delinquent → Default → Settled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794760"/>
            <a:ext cx="2045147" cy="0"/>
          </a:xfrm>
          <a:prstGeom prst="line">
            <a:avLst/>
          </a:prstGeom>
          <a:noFill/>
          <a:ln w="19050">
            <a:solidFill>
              <a:srgbClr val="7874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48067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94360" y="3703320"/>
            <a:ext cx="182880" cy="182880"/>
          </a:xfrm>
          <a:prstGeom prst="ellipse">
            <a:avLst/>
          </a:prstGeom>
          <a:solidFill>
            <a:srgbClr val="16181C"/>
          </a:solidFill>
          <a:ln w="19050">
            <a:solidFill>
              <a:srgbClr val="16181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3977640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822387" y="3794760"/>
            <a:ext cx="2045147" cy="0"/>
          </a:xfrm>
          <a:prstGeom prst="line">
            <a:avLst/>
          </a:prstGeom>
          <a:noFill/>
          <a:ln w="19050">
            <a:solidFill>
              <a:srgbClr val="78746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30374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776667" y="3703320"/>
            <a:ext cx="182880" cy="182880"/>
          </a:xfrm>
          <a:prstGeom prst="ellipse">
            <a:avLst/>
          </a:prstGeom>
          <a:solidFill>
            <a:srgbClr val="FAF9F6"/>
          </a:solidFill>
          <a:ln w="19050">
            <a:solidFill>
              <a:srgbClr val="16181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6627" y="3977640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04694" y="3794760"/>
            <a:ext cx="2045147" cy="0"/>
          </a:xfrm>
          <a:prstGeom prst="line">
            <a:avLst/>
          </a:prstGeom>
          <a:noFill/>
          <a:ln w="19050">
            <a:solidFill>
              <a:srgbClr val="78746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912681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958974" y="3703320"/>
            <a:ext cx="182880" cy="182880"/>
          </a:xfrm>
          <a:prstGeom prst="ellipse">
            <a:avLst/>
          </a:prstGeom>
          <a:solidFill>
            <a:srgbClr val="FAF9F6"/>
          </a:solidFill>
          <a:ln w="19050">
            <a:solidFill>
              <a:srgbClr val="16181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8934" y="3977640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Delinquent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187001" y="3794760"/>
            <a:ext cx="2045147" cy="0"/>
          </a:xfrm>
          <a:prstGeom prst="line">
            <a:avLst/>
          </a:prstGeom>
          <a:noFill/>
          <a:ln w="19050">
            <a:solidFill>
              <a:srgbClr val="78746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4988" y="3611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141281" y="3703320"/>
            <a:ext cx="182880" cy="182880"/>
          </a:xfrm>
          <a:prstGeom prst="ellipse">
            <a:avLst/>
          </a:prstGeom>
          <a:solidFill>
            <a:srgbClr val="FAF9F6"/>
          </a:solidFill>
          <a:ln w="19050">
            <a:solidFill>
              <a:srgbClr val="16181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21241" y="3977640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69308" y="3794760"/>
            <a:ext cx="2182307" cy="0"/>
          </a:xfrm>
          <a:prstGeom prst="line">
            <a:avLst/>
          </a:prstGeom>
          <a:noFill/>
          <a:ln w="19050">
            <a:solidFill>
              <a:srgbClr val="78746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3588" y="3703320"/>
            <a:ext cx="182880" cy="182880"/>
          </a:xfrm>
          <a:prstGeom prst="ellipse">
            <a:avLst/>
          </a:prstGeom>
          <a:solidFill>
            <a:srgbClr val="FAF9F6"/>
          </a:solidFill>
          <a:ln w="19050">
            <a:solidFill>
              <a:srgbClr val="16181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03548" y="3977640"/>
            <a:ext cx="218230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937760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advances only when an ASC proof of the corresponding Ethereum event is verified by the BlockProver precompile, or when a deadline measured in attested source-chain block height expires. No party can assert a transition.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12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inversion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ASC project proves that something happened.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Covenant proves that nothing did.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3063240"/>
            <a:ext cx="10911535" cy="1051560"/>
          </a:xfrm>
          <a:prstGeom prst="roundRect">
            <a:avLst>
              <a:gd name="adj" fmla="val 5217"/>
            </a:avLst>
          </a:prstGeom>
          <a:solidFill>
            <a:srgbClr val="1E202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46120"/>
            <a:ext cx="103628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SilenceAdapter: an obligation degrades unless proof of payment arrives. No reporter, no committee, no oracle operator. Default is the default.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4343400"/>
            <a:ext cx="999713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i="1" dirty="0">
                <a:solidFill>
                  <a:srgbClr val="F3F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 cannot prove a negative with an inclusion proof. Covenant does not claim to. It proves an on-chain fact about Creditcoin state — no admissible proof of payment for this window was presented before the attested head passed the deadline — which is economically equivalent to non-payment, because submission is permissionless, costs a fraction of a cent, and the borrower is the party most motivated to submit it. If it is ever wrong, the proof still cures it, however late it arrives."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12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Bonded underwriters — named, not pooled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Named, not pooled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1381719" cy="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926080"/>
            <a:ext cx="34542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bond backs one obligation. Pooling is what let correlated risk hide inside a single APY — and why the delegate model died.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368698" y="210312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Stablecoin-first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4368698" y="2743200"/>
            <a:ext cx="1381719" cy="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8698" y="2926080"/>
            <a:ext cx="34542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Collateralised in a volatile token is a reflexive death spiral: the collateral falls precisely when defaults rise. Allowlisted only.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097317" y="2103120"/>
            <a:ext cx="345429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Slashed by proof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8097317" y="2743200"/>
            <a:ext cx="1381719" cy="0"/>
          </a:xfrm>
          <a:prstGeom prst="line">
            <a:avLst/>
          </a:prstGeom>
          <a:noFill/>
          <a:ln w="12700">
            <a:solidFill>
              <a:srgbClr val="16181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97317" y="2926080"/>
            <a:ext cx="345429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the spread when the borrower pays. Slashed automatically to the creditor on a proven default — no committee, no vote.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89204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120640"/>
            <a:ext cx="9997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puts the credit decision where the information actually is — the loan officer, the employer, the co-op, the merchant acquirer. A borrower’s cost of credit becomes a live market price instead of a model’s opinion.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NOT ASSERTED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number here is a real transaction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6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cost to prove a fact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51,529× the age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20040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6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232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320040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continuity roots — saturates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~1yr, not linear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8745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C6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78.4%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6400800" y="26060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 saved batching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proofs, 1 continuity chain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601200" y="187452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C6B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2.3min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601200" y="26060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→ delinquent →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default, zero humans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3657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default, no reporter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4069080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194560" y="4069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0x7da80af3…e9eb9fc8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4416552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Delinquent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194560" y="441655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0x72127e0d…bf720278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764024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Default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2194560" y="47640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0x7ce07a2e…759a61f7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2578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underwriters had posted first-loss capital against this obligation — the default report shows slashed: 0, honestly, rather than implying protection that wasn’t there.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Deep-history cost curve</a:t>
            </a:r>
            <a:endParaRPr lang="en-US" sz="13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6400800" y="4069080"/>
          <a:ext cx="50292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12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DEPTH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guarded path around a raw precompile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93392"/>
            <a:ext cx="128016" cy="128016"/>
          </a:xfrm>
          <a:prstGeom prst="ellipse">
            <a:avLst/>
          </a:prstGeom>
          <a:solidFill>
            <a:srgbClr val="1C6B48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928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mainnet evidence, from testnet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60120" y="2221992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CC3 testnet attests Ethereum mainnet at chainkey 3. Every proof in this build is against a real mainnet transaction.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128016" cy="128016"/>
          </a:xfrm>
          <a:prstGeom prst="ellipse">
            <a:avLst/>
          </a:prstGeom>
          <a:solidFill>
            <a:srgbClr val="1C6B48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28072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BlockProver does not validate success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960120" y="3136392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reverted ERC-20 transfer is still a validly-included transaction. AscVerify.sol asserts receipt status == 0x1 before any log is touched — published standalone, MIT.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822192"/>
            <a:ext cx="128016" cy="128016"/>
          </a:xfrm>
          <a:prstGeom prst="ellipse">
            <a:avLst/>
          </a:prstGeom>
          <a:solidFill>
            <a:srgbClr val="1C6B48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7216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Replay-guarded, confirmation-gated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960120" y="4050792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proof keys on (chainKey, height, txIndex, logIndex). Confirmation depth is enforced against the attested head, not assumed.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736592"/>
            <a:ext cx="128016" cy="128016"/>
          </a:xfrm>
          <a:prstGeom prst="ellipse">
            <a:avLst/>
          </a:prstGeom>
          <a:solidFill>
            <a:srgbClr val="1C6B48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4636008"/>
            <a:ext cx="10591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18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Liveness circuit breaker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60120" y="4965192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penaltiesEnabled() requires an unbroken observation record. A stalled oracle must never manufacture defaults across every obligation at once.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57607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BlockProver  0x0000000000000000000000000000000000000FD2      ChainInfo  0x0000000000000000000000000000000000000fD3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12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This is not a mockup. It is running.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265176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+ source-verified on CC3 testnet (Blockscout)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32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2651760" y="2532888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unattended on Fly.io — poke / prove / sweep on independent timers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099816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2651760" y="309981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Always-on read API on Fly.io, free, no auth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66744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2651760" y="36667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Vercel, wired to the live Lens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4233672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AF9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651760" y="423367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contract tests + 7 Lens projection tests, passing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5074920"/>
            <a:ext cx="10911535" cy="1005840"/>
          </a:xfrm>
          <a:prstGeom prst="roundRect">
            <a:avLst>
              <a:gd name="adj" fmla="val 5455"/>
            </a:avLst>
          </a:prstGeom>
          <a:solidFill>
            <a:srgbClr val="1E2027"/>
          </a:solidFill>
          <a:ln w="12700">
            <a:solidFill>
              <a:srgbClr val="2A2C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230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covenant-console.vercel.app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532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covenant-lens.fly.dev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523036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github.com/successaje/covenant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55321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MIT-licensed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12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PLAINLY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18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Known limitations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920240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attestors are permissioned today (AuthorizedOnly), with a documented 0 CTC minimum bond and no published slashing regime — our most important external dependency.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2578608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2578608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is v1: identity is a commitment, but payment addresses and amounts are public by construction. Do not put real people’s data in this registry today.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" y="3236976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3236976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chain — Ethereum mainnet only, because that is what ASC attests today.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3895344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895344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spam is priced, not adjudicated. Wash underwriting is priced, not prevented. Both are made expensive, neither is made impossible.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0080" y="4553712"/>
            <a:ext cx="274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62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4553712"/>
            <a:ext cx="105914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4A4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registration is not legal lien perfection in any jurisdiction.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5440680"/>
            <a:ext cx="10911535" cy="0"/>
          </a:xfrm>
          <a:prstGeom prst="line">
            <a:avLst/>
          </a:prstGeom>
          <a:noFill/>
          <a:ln w="12700">
            <a:solidFill>
              <a:srgbClr val="E0DDD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596128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reviewer should not have to discover these. We treat the attestor set as the protocol’s single most important external dependency, and design around it: per-obligation exposure caps and an AscVerify abstraction that lets a second evidence backend be swapped in without touching Register.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874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12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7874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18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goes next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0–3 mo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194560" y="1965960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Mainnet v0. Import historical loan records as commitment-form obligations — coverage on day one.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58775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3–6 mo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194560" y="2587752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encumbrance API. Three venues querying. AscVerify adopted as an ecosystem standard.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3209544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6–12 mo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3209544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Underwriting bonds with real capital. First proven mainnet default.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831336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9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12–24 mo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194560" y="3831336"/>
            <a:ext cx="93570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 standard for Obligations. Registrar Council. Attested Register mirrors on Ethereum/Base.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709160"/>
            <a:ext cx="10911535" cy="1371600"/>
          </a:xfrm>
          <a:prstGeom prst="roundRect">
            <a:avLst>
              <a:gd name="adj" fmla="val 4000"/>
            </a:avLst>
          </a:prstGeom>
          <a:solidFill>
            <a:srgbClr val="1E2027"/>
          </a:solidFill>
          <a:ln w="19050">
            <a:solidFill>
              <a:srgbClr val="1C6B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892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C6B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60120" y="516636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FAF9F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CEIP fast-track — twelve months to ship the Register to mainnet and land the first three registrars.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002975" y="6355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8A49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12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A8A4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2026-08-23T21:20:29Z</dcterms:created>
  <dcterms:modified xsi:type="dcterms:W3CDTF">2026-08-23T21:20:29Z</dcterms:modified>
</cp:coreProperties>
</file>